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1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3" r:id="rId1"/>
  </p:sldMasterIdLst>
  <p:notesMasterIdLst>
    <p:notesMasterId r:id="rId13"/>
  </p:notesMasterIdLst>
  <p:sldIdLst>
    <p:sldId id="256" r:id="rId2"/>
    <p:sldId id="258" r:id="rId3"/>
    <p:sldId id="267" r:id="rId4"/>
    <p:sldId id="259" r:id="rId5"/>
    <p:sldId id="266" r:id="rId6"/>
    <p:sldId id="268" r:id="rId7"/>
    <p:sldId id="269" r:id="rId8"/>
    <p:sldId id="270" r:id="rId9"/>
    <p:sldId id="271" r:id="rId10"/>
    <p:sldId id="260" r:id="rId11"/>
    <p:sldId id="265" r:id="rId12"/>
  </p:sldIdLst>
  <p:sldSz cx="9144000" cy="7315200"/>
  <p:notesSz cx="6858000" cy="9144000"/>
  <p:embeddedFontLst>
    <p:embeddedFont>
      <p:font typeface="Candara" panose="020E0502030303020204" pitchFamily="34" charset="0"/>
      <p:regular r:id="rId14"/>
      <p:bold r:id="rId15"/>
      <p:italic r:id="rId16"/>
      <p:boldItalic r:id="rId17"/>
    </p:embeddedFont>
    <p:embeddedFont>
      <p:font typeface="Crimson Text" panose="020B0604020202020204" charset="0"/>
      <p:regular r:id="rId18"/>
      <p:bold r:id="rId19"/>
      <p:italic r:id="rId20"/>
      <p:boldItalic r:id="rId21"/>
    </p:embeddedFont>
    <p:embeddedFont>
      <p:font typeface="Montserrat" panose="00000500000000000000" pitchFamily="2" charset="0"/>
      <p:regular r:id="rId22"/>
      <p:bold r:id="rId23"/>
      <p:italic r:id="rId24"/>
      <p:boldItalic r:id="rId25"/>
    </p:embeddedFont>
    <p:embeddedFont>
      <p:font typeface="Vidaloka" panose="020B0604020202020204" charset="0"/>
      <p:regular r:id="rId2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6CA17A43-9245-44E2-9399-44B779A52731}">
  <a:tblStyle styleId="{6CA17A43-9245-44E2-9399-44B779A5273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538" autoAdjust="0"/>
    <p:restoredTop sz="90254" autoAdjust="0"/>
  </p:normalViewPr>
  <p:slideViewPr>
    <p:cSldViewPr snapToGrid="0">
      <p:cViewPr varScale="1">
        <p:scale>
          <a:sx n="72" d="100"/>
          <a:sy n="72" d="100"/>
        </p:scale>
        <p:origin x="21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26" Type="http://schemas.openxmlformats.org/officeDocument/2006/relationships/font" Target="fonts/font13.fntdata"/><Relationship Id="rId3" Type="http://schemas.openxmlformats.org/officeDocument/2006/relationships/slide" Target="slides/slide2.xml"/><Relationship Id="rId21" Type="http://schemas.openxmlformats.org/officeDocument/2006/relationships/font" Target="fonts/font8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5" Type="http://schemas.openxmlformats.org/officeDocument/2006/relationships/font" Target="fonts/font12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font" Target="fonts/font7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1.fntdata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23" Type="http://schemas.openxmlformats.org/officeDocument/2006/relationships/font" Target="fonts/font10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6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font" Target="fonts/font9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9" name="Google Shape;47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0" name="Google Shape;48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7278A7E5-55A5-48C3-941A-F8C78F91E3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>
            <a:extLst>
              <a:ext uri="{FF2B5EF4-FFF2-40B4-BE49-F238E27FC236}">
                <a16:creationId xmlns:a16="http://schemas.microsoft.com/office/drawing/2014/main" id="{580154BC-FEDF-0B0B-C066-F687C4DD24F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>
            <a:extLst>
              <a:ext uri="{FF2B5EF4-FFF2-40B4-BE49-F238E27FC236}">
                <a16:creationId xmlns:a16="http://schemas.microsoft.com/office/drawing/2014/main" id="{6E81C805-D0C0-59FB-977A-E338FC2CA6D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7197046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105aad17dc0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9" name="Google Shape;509;g105aad17dc0_0_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A3834402-9B16-705F-C15A-2A9B7D16100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>
            <a:extLst>
              <a:ext uri="{FF2B5EF4-FFF2-40B4-BE49-F238E27FC236}">
                <a16:creationId xmlns:a16="http://schemas.microsoft.com/office/drawing/2014/main" id="{F76F01FA-3BB6-0666-AB0A-C235A5DC7C5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>
            <a:extLst>
              <a:ext uri="{FF2B5EF4-FFF2-40B4-BE49-F238E27FC236}">
                <a16:creationId xmlns:a16="http://schemas.microsoft.com/office/drawing/2014/main" id="{9775F5D0-9E4B-ED6C-8879-E6B5FF70C22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743371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96F47AC7-930F-673E-6F84-6E4A57EA2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>
            <a:extLst>
              <a:ext uri="{FF2B5EF4-FFF2-40B4-BE49-F238E27FC236}">
                <a16:creationId xmlns:a16="http://schemas.microsoft.com/office/drawing/2014/main" id="{8B09BD3D-BA60-E294-ABBB-EDA9868D4F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>
            <a:extLst>
              <a:ext uri="{FF2B5EF4-FFF2-40B4-BE49-F238E27FC236}">
                <a16:creationId xmlns:a16="http://schemas.microsoft.com/office/drawing/2014/main" id="{5F720541-86BC-4DB4-2F9F-DCFE173DADA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881423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DC3440A0-295B-1771-C73D-8ACF7707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>
            <a:extLst>
              <a:ext uri="{FF2B5EF4-FFF2-40B4-BE49-F238E27FC236}">
                <a16:creationId xmlns:a16="http://schemas.microsoft.com/office/drawing/2014/main" id="{8ACE77E3-F619-3CBD-68D1-F86FC2197D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>
            <a:extLst>
              <a:ext uri="{FF2B5EF4-FFF2-40B4-BE49-F238E27FC236}">
                <a16:creationId xmlns:a16="http://schemas.microsoft.com/office/drawing/2014/main" id="{B1A02716-E542-0675-6C46-6477B1B30F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5045549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C153CA6B-C053-50EF-574C-9CD1B78D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>
            <a:extLst>
              <a:ext uri="{FF2B5EF4-FFF2-40B4-BE49-F238E27FC236}">
                <a16:creationId xmlns:a16="http://schemas.microsoft.com/office/drawing/2014/main" id="{31483BEC-98CB-4E42-1D6B-C890FDE0322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>
            <a:extLst>
              <a:ext uri="{FF2B5EF4-FFF2-40B4-BE49-F238E27FC236}">
                <a16:creationId xmlns:a16="http://schemas.microsoft.com/office/drawing/2014/main" id="{E0EEBECD-8F84-BCF9-08DB-3A7234686DF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1393682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90">
          <a:extLst>
            <a:ext uri="{FF2B5EF4-FFF2-40B4-BE49-F238E27FC236}">
              <a16:creationId xmlns:a16="http://schemas.microsoft.com/office/drawing/2014/main" id="{8A0663EF-0C43-4B57-F2F2-E07B849746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gcf7a3c503a_0_0:notes">
            <a:extLst>
              <a:ext uri="{FF2B5EF4-FFF2-40B4-BE49-F238E27FC236}">
                <a16:creationId xmlns:a16="http://schemas.microsoft.com/office/drawing/2014/main" id="{8EE4C42E-B4D4-6136-A393-392201BA91E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2" name="Google Shape;492;gcf7a3c503a_0_0:notes">
            <a:extLst>
              <a:ext uri="{FF2B5EF4-FFF2-40B4-BE49-F238E27FC236}">
                <a16:creationId xmlns:a16="http://schemas.microsoft.com/office/drawing/2014/main" id="{FA6227AF-4BE9-32F3-654C-0F2F2363C6F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18144058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1" name="Google Shape;531;gcd8a80d6bc_0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285875" y="685800"/>
            <a:ext cx="42862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2" name="Google Shape;532;gcd8a80d6bc_0_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1039975" y="1883734"/>
            <a:ext cx="7064100" cy="2919253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65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1040000" y="4802987"/>
            <a:ext cx="7064100" cy="62848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cxnSp>
        <p:nvCxnSpPr>
          <p:cNvPr id="11" name="Google Shape;11;p2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" name="Google Shape;12;p2"/>
          <p:cNvCxnSpPr/>
          <p:nvPr/>
        </p:nvCxnSpPr>
        <p:spPr>
          <a:xfrm flipH="1">
            <a:off x="-257975" y="-103182"/>
            <a:ext cx="3047400" cy="191488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" name="Google Shape;13;p2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" name="Google Shape;14;p2"/>
          <p:cNvCxnSpPr/>
          <p:nvPr/>
        </p:nvCxnSpPr>
        <p:spPr>
          <a:xfrm flipH="1">
            <a:off x="6467450" y="5596978"/>
            <a:ext cx="3047400" cy="191488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subTitle" idx="1"/>
          </p:nvPr>
        </p:nvSpPr>
        <p:spPr>
          <a:xfrm>
            <a:off x="895950" y="2392178"/>
            <a:ext cx="3847200" cy="3384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title"/>
          </p:nvPr>
        </p:nvSpPr>
        <p:spPr>
          <a:xfrm>
            <a:off x="713225" y="632924"/>
            <a:ext cx="56799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57" name="Google Shape;57;p9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8" name="Google Shape;58;p9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59" name="Google Shape;59;p9"/>
          <p:cNvCxnSpPr/>
          <p:nvPr/>
        </p:nvCxnSpPr>
        <p:spPr>
          <a:xfrm flipH="1">
            <a:off x="5925450" y="3978667"/>
            <a:ext cx="3378000" cy="350848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3"/>
          <p:cNvSpPr txBox="1">
            <a:spLocks noGrp="1"/>
          </p:cNvSpPr>
          <p:nvPr>
            <p:ph type="title"/>
          </p:nvPr>
        </p:nvSpPr>
        <p:spPr>
          <a:xfrm>
            <a:off x="713225" y="632924"/>
            <a:ext cx="35838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sp>
        <p:nvSpPr>
          <p:cNvPr id="75" name="Google Shape;75;p13"/>
          <p:cNvSpPr txBox="1">
            <a:spLocks noGrp="1"/>
          </p:cNvSpPr>
          <p:nvPr>
            <p:ph type="subTitle" idx="1"/>
          </p:nvPr>
        </p:nvSpPr>
        <p:spPr>
          <a:xfrm>
            <a:off x="5001000" y="2763271"/>
            <a:ext cx="2486100" cy="507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subTitle" idx="2"/>
          </p:nvPr>
        </p:nvSpPr>
        <p:spPr>
          <a:xfrm>
            <a:off x="5001000" y="3207253"/>
            <a:ext cx="2486100" cy="87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subTitle" idx="3"/>
          </p:nvPr>
        </p:nvSpPr>
        <p:spPr>
          <a:xfrm>
            <a:off x="1655200" y="2763271"/>
            <a:ext cx="2486100" cy="507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subTitle" idx="4"/>
          </p:nvPr>
        </p:nvSpPr>
        <p:spPr>
          <a:xfrm>
            <a:off x="1655200" y="3207253"/>
            <a:ext cx="2486100" cy="87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ubTitle" idx="5"/>
          </p:nvPr>
        </p:nvSpPr>
        <p:spPr>
          <a:xfrm>
            <a:off x="5001000" y="5296285"/>
            <a:ext cx="2486100" cy="507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0" name="Google Shape;80;p13"/>
          <p:cNvSpPr txBox="1">
            <a:spLocks noGrp="1"/>
          </p:cNvSpPr>
          <p:nvPr>
            <p:ph type="subTitle" idx="6"/>
          </p:nvPr>
        </p:nvSpPr>
        <p:spPr>
          <a:xfrm>
            <a:off x="5001000" y="5740267"/>
            <a:ext cx="2486100" cy="87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7"/>
          </p:nvPr>
        </p:nvSpPr>
        <p:spPr>
          <a:xfrm>
            <a:off x="1655200" y="5296285"/>
            <a:ext cx="2486100" cy="5077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400">
                <a:latin typeface="Vidaloka"/>
                <a:ea typeface="Vidaloka"/>
                <a:cs typeface="Vidaloka"/>
                <a:sym typeface="Vidaloka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100"/>
              <a:buNone/>
              <a:defRPr sz="2100" b="1"/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subTitle" idx="8"/>
          </p:nvPr>
        </p:nvSpPr>
        <p:spPr>
          <a:xfrm>
            <a:off x="1655250" y="5740267"/>
            <a:ext cx="2486100" cy="87978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title" idx="9" hasCustomPrompt="1"/>
          </p:nvPr>
        </p:nvSpPr>
        <p:spPr>
          <a:xfrm>
            <a:off x="2378650" y="1853992"/>
            <a:ext cx="1039200" cy="949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4" name="Google Shape;84;p13"/>
          <p:cNvSpPr txBox="1">
            <a:spLocks noGrp="1"/>
          </p:cNvSpPr>
          <p:nvPr>
            <p:ph type="title" idx="13" hasCustomPrompt="1"/>
          </p:nvPr>
        </p:nvSpPr>
        <p:spPr>
          <a:xfrm>
            <a:off x="5724450" y="1853992"/>
            <a:ext cx="1039200" cy="949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>
            <a:spLocks noGrp="1"/>
          </p:cNvSpPr>
          <p:nvPr>
            <p:ph type="title" idx="14" hasCustomPrompt="1"/>
          </p:nvPr>
        </p:nvSpPr>
        <p:spPr>
          <a:xfrm>
            <a:off x="2378700" y="4384339"/>
            <a:ext cx="1039200" cy="949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86" name="Google Shape;86;p13"/>
          <p:cNvSpPr txBox="1">
            <a:spLocks noGrp="1"/>
          </p:cNvSpPr>
          <p:nvPr>
            <p:ph type="title" idx="15" hasCustomPrompt="1"/>
          </p:nvPr>
        </p:nvSpPr>
        <p:spPr>
          <a:xfrm>
            <a:off x="5724450" y="4384339"/>
            <a:ext cx="1039200" cy="949333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3800">
                <a:solidFill>
                  <a:schemeClr val="accent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None/>
              <a:defRPr sz="4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cxnSp>
        <p:nvCxnSpPr>
          <p:cNvPr id="87" name="Google Shape;87;p13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8" name="Google Shape;88;p13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 1">
  <p:cSld name="CUSTOM_11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>
            <a:spLocks noGrp="1"/>
          </p:cNvSpPr>
          <p:nvPr>
            <p:ph type="title"/>
          </p:nvPr>
        </p:nvSpPr>
        <p:spPr>
          <a:xfrm>
            <a:off x="720000" y="2385377"/>
            <a:ext cx="2336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1" name="Google Shape;91;p14"/>
          <p:cNvSpPr txBox="1">
            <a:spLocks noGrp="1"/>
          </p:cNvSpPr>
          <p:nvPr>
            <p:ph type="title" idx="2" hasCustomPrompt="1"/>
          </p:nvPr>
        </p:nvSpPr>
        <p:spPr>
          <a:xfrm>
            <a:off x="1482600" y="1557795"/>
            <a:ext cx="8112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2" name="Google Shape;92;p14"/>
          <p:cNvSpPr txBox="1">
            <a:spLocks noGrp="1"/>
          </p:cNvSpPr>
          <p:nvPr>
            <p:ph type="subTitle" idx="1"/>
          </p:nvPr>
        </p:nvSpPr>
        <p:spPr>
          <a:xfrm>
            <a:off x="720000" y="2959927"/>
            <a:ext cx="23364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4"/>
          <p:cNvSpPr txBox="1">
            <a:spLocks noGrp="1"/>
          </p:cNvSpPr>
          <p:nvPr>
            <p:ph type="title" idx="3"/>
          </p:nvPr>
        </p:nvSpPr>
        <p:spPr>
          <a:xfrm>
            <a:off x="3403800" y="2385377"/>
            <a:ext cx="2336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4" name="Google Shape;94;p14"/>
          <p:cNvSpPr txBox="1">
            <a:spLocks noGrp="1"/>
          </p:cNvSpPr>
          <p:nvPr>
            <p:ph type="title" idx="4" hasCustomPrompt="1"/>
          </p:nvPr>
        </p:nvSpPr>
        <p:spPr>
          <a:xfrm>
            <a:off x="4166400" y="1557795"/>
            <a:ext cx="8112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5" name="Google Shape;95;p14"/>
          <p:cNvSpPr txBox="1">
            <a:spLocks noGrp="1"/>
          </p:cNvSpPr>
          <p:nvPr>
            <p:ph type="subTitle" idx="5"/>
          </p:nvPr>
        </p:nvSpPr>
        <p:spPr>
          <a:xfrm>
            <a:off x="3403800" y="2959940"/>
            <a:ext cx="23364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4"/>
          <p:cNvSpPr txBox="1">
            <a:spLocks noGrp="1"/>
          </p:cNvSpPr>
          <p:nvPr>
            <p:ph type="title" idx="6"/>
          </p:nvPr>
        </p:nvSpPr>
        <p:spPr>
          <a:xfrm>
            <a:off x="6087600" y="2385377"/>
            <a:ext cx="2336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97" name="Google Shape;97;p14"/>
          <p:cNvSpPr txBox="1">
            <a:spLocks noGrp="1"/>
          </p:cNvSpPr>
          <p:nvPr>
            <p:ph type="title" idx="7" hasCustomPrompt="1"/>
          </p:nvPr>
        </p:nvSpPr>
        <p:spPr>
          <a:xfrm>
            <a:off x="6850200" y="1557795"/>
            <a:ext cx="8112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98" name="Google Shape;98;p14"/>
          <p:cNvSpPr txBox="1">
            <a:spLocks noGrp="1"/>
          </p:cNvSpPr>
          <p:nvPr>
            <p:ph type="subTitle" idx="8"/>
          </p:nvPr>
        </p:nvSpPr>
        <p:spPr>
          <a:xfrm>
            <a:off x="6087600" y="2959940"/>
            <a:ext cx="23364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4"/>
          <p:cNvSpPr txBox="1">
            <a:spLocks noGrp="1"/>
          </p:cNvSpPr>
          <p:nvPr>
            <p:ph type="title" idx="9"/>
          </p:nvPr>
        </p:nvSpPr>
        <p:spPr>
          <a:xfrm>
            <a:off x="720000" y="4712646"/>
            <a:ext cx="2336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0" name="Google Shape;100;p14"/>
          <p:cNvSpPr txBox="1">
            <a:spLocks noGrp="1"/>
          </p:cNvSpPr>
          <p:nvPr>
            <p:ph type="title" idx="13" hasCustomPrompt="1"/>
          </p:nvPr>
        </p:nvSpPr>
        <p:spPr>
          <a:xfrm>
            <a:off x="1482600" y="3860035"/>
            <a:ext cx="8112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1" name="Google Shape;101;p14"/>
          <p:cNvSpPr txBox="1">
            <a:spLocks noGrp="1"/>
          </p:cNvSpPr>
          <p:nvPr>
            <p:ph type="subTitle" idx="14"/>
          </p:nvPr>
        </p:nvSpPr>
        <p:spPr>
          <a:xfrm>
            <a:off x="720000" y="5270561"/>
            <a:ext cx="23364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4"/>
          <p:cNvSpPr txBox="1">
            <a:spLocks noGrp="1"/>
          </p:cNvSpPr>
          <p:nvPr>
            <p:ph type="title" idx="15"/>
          </p:nvPr>
        </p:nvSpPr>
        <p:spPr>
          <a:xfrm>
            <a:off x="3403800" y="4712646"/>
            <a:ext cx="2336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3" name="Google Shape;103;p14"/>
          <p:cNvSpPr txBox="1">
            <a:spLocks noGrp="1"/>
          </p:cNvSpPr>
          <p:nvPr>
            <p:ph type="title" idx="16" hasCustomPrompt="1"/>
          </p:nvPr>
        </p:nvSpPr>
        <p:spPr>
          <a:xfrm>
            <a:off x="4166400" y="3860035"/>
            <a:ext cx="8112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4" name="Google Shape;104;p14"/>
          <p:cNvSpPr txBox="1">
            <a:spLocks noGrp="1"/>
          </p:cNvSpPr>
          <p:nvPr>
            <p:ph type="subTitle" idx="17"/>
          </p:nvPr>
        </p:nvSpPr>
        <p:spPr>
          <a:xfrm>
            <a:off x="3403800" y="5270561"/>
            <a:ext cx="23364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5" name="Google Shape;105;p14"/>
          <p:cNvSpPr txBox="1">
            <a:spLocks noGrp="1"/>
          </p:cNvSpPr>
          <p:nvPr>
            <p:ph type="title" idx="18"/>
          </p:nvPr>
        </p:nvSpPr>
        <p:spPr>
          <a:xfrm>
            <a:off x="6087600" y="4712646"/>
            <a:ext cx="2336400" cy="576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106" name="Google Shape;106;p14"/>
          <p:cNvSpPr txBox="1">
            <a:spLocks noGrp="1"/>
          </p:cNvSpPr>
          <p:nvPr>
            <p:ph type="title" idx="19" hasCustomPrompt="1"/>
          </p:nvPr>
        </p:nvSpPr>
        <p:spPr>
          <a:xfrm>
            <a:off x="6850200" y="3860035"/>
            <a:ext cx="8112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900"/>
              <a:buNone/>
              <a:defRPr sz="3800"/>
            </a:lvl1pPr>
            <a:lvl2pPr lvl="1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2pPr>
            <a:lvl3pPr lvl="2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3pPr>
            <a:lvl4pPr lvl="3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4pPr>
            <a:lvl5pPr lvl="4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5pPr>
            <a:lvl6pPr lvl="5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6pPr>
            <a:lvl7pPr lvl="6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7pPr>
            <a:lvl8pPr lvl="7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8pPr>
            <a:lvl9pPr lvl="8" rtl="0">
              <a:spcBef>
                <a:spcPts val="0"/>
              </a:spcBef>
              <a:spcAft>
                <a:spcPts val="0"/>
              </a:spcAft>
              <a:buSzPts val="3900"/>
              <a:buNone/>
              <a:defRPr sz="3900"/>
            </a:lvl9pPr>
          </a:lstStyle>
          <a:p>
            <a:r>
              <a:t>xx%</a:t>
            </a:r>
          </a:p>
        </p:txBody>
      </p:sp>
      <p:sp>
        <p:nvSpPr>
          <p:cNvPr id="107" name="Google Shape;107;p14"/>
          <p:cNvSpPr txBox="1">
            <a:spLocks noGrp="1"/>
          </p:cNvSpPr>
          <p:nvPr>
            <p:ph type="subTitle" idx="20"/>
          </p:nvPr>
        </p:nvSpPr>
        <p:spPr>
          <a:xfrm>
            <a:off x="6087600" y="5270561"/>
            <a:ext cx="23364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8" name="Google Shape;108;p14"/>
          <p:cNvSpPr txBox="1">
            <a:spLocks noGrp="1"/>
          </p:cNvSpPr>
          <p:nvPr>
            <p:ph type="title" idx="21"/>
          </p:nvPr>
        </p:nvSpPr>
        <p:spPr>
          <a:xfrm>
            <a:off x="2332400" y="632924"/>
            <a:ext cx="44793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09" name="Google Shape;109;p14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0" name="Google Shape;110;p14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1" name="Google Shape;111;p14"/>
          <p:cNvCxnSpPr/>
          <p:nvPr/>
        </p:nvCxnSpPr>
        <p:spPr>
          <a:xfrm>
            <a:off x="-250225" y="5797618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2" name="Google Shape;112;p14"/>
          <p:cNvCxnSpPr/>
          <p:nvPr/>
        </p:nvCxnSpPr>
        <p:spPr>
          <a:xfrm>
            <a:off x="7441150" y="-68800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2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5"/>
          <p:cNvSpPr txBox="1">
            <a:spLocks noGrp="1"/>
          </p:cNvSpPr>
          <p:nvPr>
            <p:ph type="title"/>
          </p:nvPr>
        </p:nvSpPr>
        <p:spPr>
          <a:xfrm>
            <a:off x="2410500" y="3993960"/>
            <a:ext cx="4323000" cy="7078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800"/>
              <a:buFont typeface="Crimson Text"/>
              <a:buNone/>
              <a:defRPr sz="4800">
                <a:latin typeface="Crimson Text"/>
                <a:ea typeface="Crimson Text"/>
                <a:cs typeface="Crimson Text"/>
                <a:sym typeface="Crimson Text"/>
              </a:defRPr>
            </a:lvl9pPr>
          </a:lstStyle>
          <a:p>
            <a:endParaRPr/>
          </a:p>
        </p:txBody>
      </p:sp>
      <p:sp>
        <p:nvSpPr>
          <p:cNvPr id="115" name="Google Shape;115;p15"/>
          <p:cNvSpPr txBox="1">
            <a:spLocks noGrp="1"/>
          </p:cNvSpPr>
          <p:nvPr>
            <p:ph type="subTitle" idx="1"/>
          </p:nvPr>
        </p:nvSpPr>
        <p:spPr>
          <a:xfrm>
            <a:off x="1842900" y="2363681"/>
            <a:ext cx="5458200" cy="141824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2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cxnSp>
        <p:nvCxnSpPr>
          <p:cNvPr id="116" name="Google Shape;116;p15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17" name="Google Shape;117;p15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">
  <p:cSld name="CUSTOM_13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7"/>
          <p:cNvSpPr txBox="1">
            <a:spLocks noGrp="1"/>
          </p:cNvSpPr>
          <p:nvPr>
            <p:ph type="subTitle" idx="1"/>
          </p:nvPr>
        </p:nvSpPr>
        <p:spPr>
          <a:xfrm>
            <a:off x="2648400" y="2392178"/>
            <a:ext cx="3847200" cy="338474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●"/>
              <a:defRPr sz="1400"/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27" name="Google Shape;127;p17"/>
          <p:cNvSpPr txBox="1">
            <a:spLocks noGrp="1"/>
          </p:cNvSpPr>
          <p:nvPr>
            <p:ph type="title"/>
          </p:nvPr>
        </p:nvSpPr>
        <p:spPr>
          <a:xfrm>
            <a:off x="1732050" y="632924"/>
            <a:ext cx="5679900" cy="81450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>
            <a:endParaRPr/>
          </a:p>
        </p:txBody>
      </p:sp>
      <p:cxnSp>
        <p:nvCxnSpPr>
          <p:cNvPr id="128" name="Google Shape;128;p17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9" name="Google Shape;129;p17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0" name="Google Shape;130;p17"/>
          <p:cNvCxnSpPr/>
          <p:nvPr/>
        </p:nvCxnSpPr>
        <p:spPr>
          <a:xfrm>
            <a:off x="-250225" y="5797618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31" name="Google Shape;131;p17"/>
          <p:cNvCxnSpPr/>
          <p:nvPr/>
        </p:nvCxnSpPr>
        <p:spPr>
          <a:xfrm>
            <a:off x="7441150" y="-68800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0">
    <p:spTree>
      <p:nvGrpSpPr>
        <p:cNvPr id="1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0" name="Google Shape;450;p50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1" name="Google Shape;451;p50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0_1">
    <p:spTree>
      <p:nvGrpSpPr>
        <p:cNvPr id="1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53" name="Google Shape;453;p51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4" name="Google Shape;454;p51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5" name="Google Shape;455;p51"/>
          <p:cNvCxnSpPr/>
          <p:nvPr/>
        </p:nvCxnSpPr>
        <p:spPr>
          <a:xfrm>
            <a:off x="7434175" y="-178631"/>
            <a:ext cx="1993200" cy="189184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56" name="Google Shape;456;p51"/>
          <p:cNvCxnSpPr/>
          <p:nvPr/>
        </p:nvCxnSpPr>
        <p:spPr>
          <a:xfrm>
            <a:off x="-147275" y="5608498"/>
            <a:ext cx="1993200" cy="189184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3">
  <p:cSld name="CUSTOM_30">
    <p:spTree>
      <p:nvGrpSpPr>
        <p:cNvPr id="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2" name="Google Shape;462;p53"/>
          <p:cNvCxnSpPr/>
          <p:nvPr/>
        </p:nvCxnSpPr>
        <p:spPr>
          <a:xfrm>
            <a:off x="-72550" y="389831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3" name="Google Shape;463;p53"/>
          <p:cNvCxnSpPr/>
          <p:nvPr/>
        </p:nvCxnSpPr>
        <p:spPr>
          <a:xfrm>
            <a:off x="-72550" y="6936818"/>
            <a:ext cx="9287400" cy="0"/>
          </a:xfrm>
          <a:prstGeom prst="straightConnector1">
            <a:avLst/>
          </a:prstGeom>
          <a:noFill/>
          <a:ln w="28575" cap="flat" cmpd="sng">
            <a:solidFill>
              <a:schemeClr val="accent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4" name="Google Shape;464;p53"/>
          <p:cNvCxnSpPr/>
          <p:nvPr/>
        </p:nvCxnSpPr>
        <p:spPr>
          <a:xfrm>
            <a:off x="-250225" y="5797618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5" name="Google Shape;465;p53"/>
          <p:cNvCxnSpPr/>
          <p:nvPr/>
        </p:nvCxnSpPr>
        <p:spPr>
          <a:xfrm>
            <a:off x="7441150" y="-68800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6" name="Google Shape;466;p53"/>
          <p:cNvCxnSpPr/>
          <p:nvPr/>
        </p:nvCxnSpPr>
        <p:spPr>
          <a:xfrm flipH="1">
            <a:off x="7454238" y="5765210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467" name="Google Shape;467;p53"/>
          <p:cNvCxnSpPr/>
          <p:nvPr/>
        </p:nvCxnSpPr>
        <p:spPr>
          <a:xfrm flipH="1">
            <a:off x="-237137" y="-101208"/>
            <a:ext cx="1926900" cy="1651200"/>
          </a:xfrm>
          <a:prstGeom prst="curvedConnector3">
            <a:avLst>
              <a:gd name="adj1" fmla="val 50000"/>
            </a:avLst>
          </a:prstGeom>
          <a:noFill/>
          <a:ln w="28575" cap="flat" cmpd="sng">
            <a:solidFill>
              <a:schemeClr val="accent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632924"/>
            <a:ext cx="7717500" cy="81450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Vidaloka"/>
              <a:buNone/>
              <a:defRPr sz="3000">
                <a:solidFill>
                  <a:schemeClr val="dk1"/>
                </a:solidFill>
                <a:latin typeface="Vidaloka"/>
                <a:ea typeface="Vidaloka"/>
                <a:cs typeface="Vidaloka"/>
                <a:sym typeface="Vidalok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None/>
              <a:defRPr sz="3000" i="1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50" y="1639076"/>
            <a:ext cx="7717500" cy="48588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Montserrat"/>
              <a:buChar char="●"/>
              <a:defRPr sz="1800"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●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○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Montserrat"/>
              <a:buChar char="■"/>
              <a:defRPr>
                <a:solidFill>
                  <a:schemeClr val="dk2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59" r:id="rId4"/>
    <p:sldLayoutId id="2147483660" r:id="rId5"/>
    <p:sldLayoutId id="2147483661" r:id="rId6"/>
    <p:sldLayoutId id="2147483663" r:id="rId7"/>
    <p:sldLayoutId id="2147483696" r:id="rId8"/>
    <p:sldLayoutId id="2147483697" r:id="rId9"/>
    <p:sldLayoutId id="2147483699" r:id="rId10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ikispooks.com/wiki/University_of_Salahaddin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5.xml"/><Relationship Id="rId1" Type="http://schemas.openxmlformats.org/officeDocument/2006/relationships/tags" Target="../tags/tag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1A288765-64EE-4FCE-9FE0-2756ADD45412}"/>
              </a:ext>
            </a:extLst>
          </p:cNvPr>
          <p:cNvSpPr txBox="1"/>
          <p:nvPr/>
        </p:nvSpPr>
        <p:spPr>
          <a:xfrm>
            <a:off x="2147917" y="3114907"/>
            <a:ext cx="443726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latin typeface="Vidaloka" panose="020B0604020202020204" charset="0"/>
              </a:rPr>
              <a:t>Game Proposal:</a:t>
            </a:r>
          </a:p>
          <a:p>
            <a:pPr algn="ctr"/>
            <a:r>
              <a:rPr lang="en-US" sz="3200" dirty="0">
                <a:solidFill>
                  <a:srgbClr val="FF0000"/>
                </a:solidFill>
                <a:latin typeface="Vidaloka" panose="020B0604020202020204" charset="0"/>
              </a:rPr>
              <a:t>Road Rush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388E800-DB4A-483D-93E8-4AC28C5EEBE2}"/>
              </a:ext>
            </a:extLst>
          </p:cNvPr>
          <p:cNvSpPr txBox="1"/>
          <p:nvPr/>
        </p:nvSpPr>
        <p:spPr>
          <a:xfrm>
            <a:off x="127592" y="4938810"/>
            <a:ext cx="3125972" cy="19021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endParaRPr lang="en-US" sz="1600" dirty="0">
              <a:latin typeface="Vidaloka" panose="020B0604020202020204" charset="0"/>
            </a:endParaRPr>
          </a:p>
          <a:p>
            <a:pPr>
              <a:lnSpc>
                <a:spcPct val="150000"/>
              </a:lnSpc>
            </a:pPr>
            <a:r>
              <a:rPr lang="en-US" sz="1600" dirty="0">
                <a:latin typeface="Vidaloka" panose="020B0604020202020204" charset="0"/>
              </a:rPr>
              <a:t>Prepared By: 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idaloka" panose="020B0604020202020204" charset="0"/>
              </a:rPr>
              <a:t>Mustafa Muhamad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idaloka" panose="020B0604020202020204" charset="0"/>
              </a:rPr>
              <a:t>Aram Asaad</a:t>
            </a:r>
          </a:p>
          <a:p>
            <a:pPr>
              <a:lnSpc>
                <a:spcPct val="150000"/>
              </a:lnSpc>
            </a:pPr>
            <a:r>
              <a:rPr lang="en-US" sz="1600" dirty="0">
                <a:latin typeface="Vidaloka" panose="020B0604020202020204" charset="0"/>
              </a:rPr>
              <a:t>Bashar Bahjat </a:t>
            </a:r>
          </a:p>
        </p:txBody>
      </p:sp>
      <p:pic>
        <p:nvPicPr>
          <p:cNvPr id="3" name="Picture 2" descr="A logo of a university">
            <a:extLst>
              <a:ext uri="{FF2B5EF4-FFF2-40B4-BE49-F238E27FC236}">
                <a16:creationId xmlns:a16="http://schemas.microsoft.com/office/drawing/2014/main" id="{58EBCAAA-2790-88F9-1457-43A72A08C9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837473B0-CC2E-450A-ABE3-18F120FF3D39}">
                <a1611:picAttrSrcUrl xmlns:a1611="http://schemas.microsoft.com/office/drawing/2016/11/main" r:id="rId4"/>
              </a:ext>
            </a:extLst>
          </a:blip>
          <a:stretch>
            <a:fillRect/>
          </a:stretch>
        </p:blipFill>
        <p:spPr>
          <a:xfrm>
            <a:off x="6828150" y="340875"/>
            <a:ext cx="2315850" cy="2292037"/>
          </a:xfrm>
          <a:prstGeom prst="rect">
            <a:avLst/>
          </a:prstGeom>
        </p:spPr>
      </p:pic>
    </p:spTree>
  </p:cSld>
  <p:clrMapOvr>
    <a:masterClrMapping/>
  </p:clrMapOvr>
  <p:transition spd="slow" advTm="18423"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/>
          <p:cNvSpPr txBox="1">
            <a:spLocks noGrp="1"/>
          </p:cNvSpPr>
          <p:nvPr>
            <p:ph type="title"/>
          </p:nvPr>
        </p:nvSpPr>
        <p:spPr>
          <a:xfrm>
            <a:off x="425431" y="790178"/>
            <a:ext cx="79981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dirty="0"/>
              <a:t>The Vision</a:t>
            </a:r>
            <a:endParaRPr lang="it-IT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F62D170-0D76-4A86-96E2-FA9895615C05}"/>
              </a:ext>
            </a:extLst>
          </p:cNvPr>
          <p:cNvSpPr txBox="1"/>
          <p:nvPr/>
        </p:nvSpPr>
        <p:spPr>
          <a:xfrm>
            <a:off x="425431" y="1505118"/>
            <a:ext cx="7998156" cy="1420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dirty="0"/>
              <a:t>"I want to create a driving game where the player must dodge traffic at increasing speeds </a:t>
            </a:r>
            <a:r>
              <a:rPr lang="en-US" sz="2000" i="1" dirty="0"/>
              <a:t>without</a:t>
            </a:r>
            <a:r>
              <a:rPr lang="en-US" sz="2000" dirty="0"/>
              <a:t> brake, creating a feeling of constant tension.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CBAC004-1F5F-A884-A32F-C96AFA098DC2}"/>
              </a:ext>
            </a:extLst>
          </p:cNvPr>
          <p:cNvSpPr txBox="1"/>
          <p:nvPr/>
        </p:nvSpPr>
        <p:spPr>
          <a:xfrm>
            <a:off x="446567" y="3125972"/>
            <a:ext cx="6687879" cy="3231654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marL="457200" indent="-457200">
              <a:buAutoNum type="arabicPeriod"/>
            </a:pPr>
            <a:r>
              <a:rPr lang="en-US" sz="2400" b="1" dirty="0"/>
              <a:t>Player Identity</a:t>
            </a:r>
          </a:p>
          <a:p>
            <a:endParaRPr lang="en-US" sz="2400" b="1" dirty="0"/>
          </a:p>
          <a:p>
            <a:r>
              <a:rPr lang="en-US" sz="2000" dirty="0"/>
              <a:t>There will be one player that acts as a Driver surviving on a highway with no brakes.</a:t>
            </a:r>
          </a:p>
          <a:p>
            <a:pPr lvl="1"/>
            <a:r>
              <a:rPr lang="en-US" b="1" dirty="0"/>
              <a:t> </a:t>
            </a:r>
          </a:p>
          <a:p>
            <a:endParaRPr lang="en-US" dirty="0"/>
          </a:p>
          <a:p>
            <a:r>
              <a:rPr lang="en-US" sz="2400" b="1" dirty="0"/>
              <a:t>2. The Goal</a:t>
            </a:r>
          </a:p>
          <a:p>
            <a:endParaRPr lang="en-US" sz="2400" b="1" dirty="0"/>
          </a:p>
          <a:p>
            <a:r>
              <a:rPr lang="en-US" sz="2000" dirty="0"/>
              <a:t>The goal is not just to reach a distance, but driving until the player collects three stars.</a:t>
            </a:r>
            <a:endParaRPr lang="en-US" b="1" dirty="0"/>
          </a:p>
        </p:txBody>
      </p:sp>
    </p:spTree>
  </p:cSld>
  <p:clrMapOvr>
    <a:masterClrMapping/>
  </p:clrMapOvr>
  <p:transition spd="slow" advTm="149826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46E65F30-412C-E2A4-174F-6AEEABB52D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494;p61">
            <a:extLst>
              <a:ext uri="{FF2B5EF4-FFF2-40B4-BE49-F238E27FC236}">
                <a16:creationId xmlns:a16="http://schemas.microsoft.com/office/drawing/2014/main" id="{A3A2A9CF-0C20-E442-634B-B55C54E2AAE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488147" y="481835"/>
            <a:ext cx="3710634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>
                <a:latin typeface="+mj-lt"/>
              </a:rPr>
              <a:t>Player Mode Sketch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BBB7184-57BB-CCFA-205F-2CF622314DC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34" t="11326" r="28954" b="10321"/>
          <a:stretch>
            <a:fillRect/>
          </a:stretch>
        </p:blipFill>
        <p:spPr>
          <a:xfrm>
            <a:off x="1382234" y="1222744"/>
            <a:ext cx="6358270" cy="56499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2689194"/>
      </p:ext>
    </p:extLst>
  </p:cSld>
  <p:clrMapOvr>
    <a:masterClrMapping/>
  </p:clrMapOvr>
  <p:transition spd="slow" advTm="149826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9" name="Google Shape;529;p62"/>
          <p:cNvSpPr txBox="1">
            <a:spLocks noGrp="1"/>
          </p:cNvSpPr>
          <p:nvPr>
            <p:ph type="title" idx="21"/>
          </p:nvPr>
        </p:nvSpPr>
        <p:spPr>
          <a:xfrm>
            <a:off x="284332" y="518609"/>
            <a:ext cx="5908371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l"/>
            <a:r>
              <a:rPr lang="en-US" sz="2800" b="1" dirty="0">
                <a:latin typeface="+mj-lt"/>
              </a:rPr>
              <a:t>3.Rules</a:t>
            </a:r>
            <a:endParaRPr sz="2800" b="1" dirty="0">
              <a:latin typeface="+mj-lt"/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145B341-EF20-4C86-D0C0-60EB19BE96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2894" y="1048235"/>
            <a:ext cx="8516678" cy="61863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2000" b="1" dirty="0"/>
              <a:t>Verbs:</a:t>
            </a:r>
          </a:p>
          <a:p>
            <a:endParaRPr lang="en-US" sz="1800" dirty="0"/>
          </a:p>
          <a:p>
            <a:r>
              <a:rPr lang="en-US" sz="1600" b="1" dirty="0"/>
              <a:t>Steer Left / Steer Right:</a:t>
            </a:r>
            <a:r>
              <a:rPr lang="en-US" sz="1600" dirty="0"/>
              <a:t> The player controls the car by changing the car's position on the road to left and right.</a:t>
            </a:r>
          </a:p>
          <a:p>
            <a:endParaRPr lang="en-US" sz="1600" dirty="0"/>
          </a:p>
          <a:p>
            <a:r>
              <a:rPr lang="en-US" sz="1600" b="1" dirty="0"/>
              <a:t>Impact:</a:t>
            </a:r>
            <a:r>
              <a:rPr lang="en-US" sz="1600" dirty="0"/>
              <a:t> Moving lanes allows the player to dodge traffic and collect coins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2000" b="1" dirty="0"/>
              <a:t>Limitations:</a:t>
            </a:r>
          </a:p>
          <a:p>
            <a:endParaRPr lang="en-US" sz="1800" dirty="0"/>
          </a:p>
          <a:p>
            <a:r>
              <a:rPr lang="en-US" sz="1600" b="1" dirty="0"/>
              <a:t>No Brakes:</a:t>
            </a:r>
            <a:r>
              <a:rPr lang="en-US" sz="1600" dirty="0"/>
              <a:t> The car moves forward automatically. The player cannot stop or slow down.</a:t>
            </a:r>
          </a:p>
          <a:p>
            <a:endParaRPr lang="en-US" sz="1600" dirty="0"/>
          </a:p>
          <a:p>
            <a:r>
              <a:rPr lang="en-US" sz="1600" b="1" dirty="0"/>
              <a:t>Lane Limits:</a:t>
            </a:r>
            <a:r>
              <a:rPr lang="en-US" sz="1600" dirty="0"/>
              <a:t> the player cannot drive on the grass or off the screen.</a:t>
            </a:r>
          </a:p>
          <a:p>
            <a:endParaRPr lang="en-US" sz="1600" dirty="0"/>
          </a:p>
          <a:p>
            <a:endParaRPr lang="en-US" sz="1600" dirty="0"/>
          </a:p>
          <a:p>
            <a:r>
              <a:rPr lang="en-US" sz="1800" b="1" dirty="0"/>
              <a:t>Learning The Rules at First:</a:t>
            </a:r>
          </a:p>
          <a:p>
            <a:endParaRPr lang="en-US" sz="1800" b="1" dirty="0"/>
          </a:p>
          <a:p>
            <a:r>
              <a:rPr lang="en-US" sz="1800" b="1" dirty="0"/>
              <a:t>Tutorial: </a:t>
            </a:r>
            <a:r>
              <a:rPr lang="en-US" sz="1800" dirty="0"/>
              <a:t>A "Tap to Steer" prompt appears at the start.</a:t>
            </a:r>
          </a:p>
          <a:p>
            <a:r>
              <a:rPr lang="en-US" sz="1800" dirty="0"/>
              <a:t>And</a:t>
            </a:r>
            <a:r>
              <a:rPr lang="en-US" sz="1800" b="1" dirty="0"/>
              <a:t> </a:t>
            </a:r>
            <a:r>
              <a:rPr lang="en-US" sz="1800" dirty="0"/>
              <a:t>Hitting a wall removes a Heart, instantly teaching the player what is dangerous.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b="1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endParaRPr lang="en-US" altLang="en-US" sz="1800" dirty="0">
              <a:solidFill>
                <a:schemeClr val="tx1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custDataLst>
      <p:tags r:id="rId1"/>
    </p:custDataLst>
  </p:cSld>
  <p:clrMapOvr>
    <a:masterClrMapping/>
  </p:clrMapOvr>
  <p:transition spd="slow" advTm="148292">
    <p:wip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/>
                                        <p:tgtEl>
                                          <p:spTgt spid="5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5D66541F-5C3A-4411-F171-7592383D3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33934785-8C2B-937D-FE92-FCF2674393B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404166" y="449936"/>
            <a:ext cx="79981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dirty="0"/>
              <a:t>4. Challenges</a:t>
            </a:r>
            <a:endParaRPr lang="it-IT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5777E9D-4B3F-7AB6-3045-B8E568B722BF}"/>
              </a:ext>
            </a:extLst>
          </p:cNvPr>
          <p:cNvSpPr txBox="1"/>
          <p:nvPr/>
        </p:nvSpPr>
        <p:spPr>
          <a:xfrm>
            <a:off x="478595" y="1164876"/>
            <a:ext cx="7998156" cy="51655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Obstacles: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Concrete Blockers:</a:t>
            </a:r>
            <a:r>
              <a:rPr lang="en-US" sz="1600" dirty="0"/>
              <a:t> These are like walls on the road. If you hit them, you lose a Heart immediately.</a:t>
            </a:r>
            <a:endParaRPr lang="en-US" sz="1600" b="1" dirty="0"/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/>
              <a:t>Opponents: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Yellow Car:</a:t>
            </a:r>
            <a:r>
              <a:rPr lang="en-US" sz="1600" dirty="0"/>
              <a:t> It moves in a straight line. It acts like a moving wall because it does not chase you. It is easy to avoid.</a:t>
            </a: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US" sz="1600" b="1" dirty="0"/>
              <a:t>Red Car:</a:t>
            </a:r>
            <a:r>
              <a:rPr lang="en-US" sz="1600" dirty="0"/>
              <a:t> This car is smart. It sees which lane you are in and moves to block you. You have to trick it to get past.</a:t>
            </a:r>
          </a:p>
          <a:p>
            <a:pPr>
              <a:lnSpc>
                <a:spcPct val="150000"/>
              </a:lnSpc>
            </a:pPr>
            <a:endParaRPr lang="en-US" sz="1600" b="1" dirty="0"/>
          </a:p>
          <a:p>
            <a:pPr>
              <a:lnSpc>
                <a:spcPct val="150000"/>
              </a:lnSpc>
            </a:pPr>
            <a:r>
              <a:rPr lang="en-US" sz="1800" b="1" dirty="0"/>
              <a:t>Resources: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Hearts: You have 3 lives. You must keep them to stay in the game.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Coins: You must take risks to collect 10, 20, or 30 coins to get Stars.</a:t>
            </a:r>
          </a:p>
        </p:txBody>
      </p:sp>
    </p:spTree>
    <p:extLst>
      <p:ext uri="{BB962C8B-B14F-4D97-AF65-F5344CB8AC3E}">
        <p14:creationId xmlns:p14="http://schemas.microsoft.com/office/powerpoint/2010/main" val="3761405741"/>
      </p:ext>
    </p:extLst>
  </p:cSld>
  <p:clrMapOvr>
    <a:masterClrMapping/>
  </p:clrMapOvr>
  <p:transition spd="slow" advTm="149826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2508A016-8896-70AC-11D9-EABF61D669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F17CD44A-46E4-CD55-DF63-0BA1E423382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636" y="290448"/>
            <a:ext cx="79981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-US" sz="3200" b="1" dirty="0">
                <a:latin typeface="+mj-lt"/>
              </a:rPr>
              <a:t>Game Engine</a:t>
            </a:r>
            <a:endParaRPr lang="it-IT" dirty="0">
              <a:latin typeface="+mj-lt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194AD6A-27B3-C0C6-40D8-54FB04AFB2B6}"/>
              </a:ext>
            </a:extLst>
          </p:cNvPr>
          <p:cNvSpPr txBox="1"/>
          <p:nvPr/>
        </p:nvSpPr>
        <p:spPr>
          <a:xfrm>
            <a:off x="414799" y="1313731"/>
            <a:ext cx="7782903" cy="46171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800" b="1" dirty="0"/>
              <a:t>Graphics System: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2D Rendering</a:t>
            </a:r>
            <a:r>
              <a:rPr lang="en-US" sz="1600" dirty="0"/>
              <a:t>: Must support sprites (images) for cars and road tiles.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Scrolling: </a:t>
            </a:r>
            <a:r>
              <a:rPr lang="en-US" sz="1600" dirty="0"/>
              <a:t>The engine needs to scroll the background layer continuously to simulate speed.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/>
              <a:t>Physics &amp; Collision: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Collision: </a:t>
            </a:r>
            <a:r>
              <a:rPr lang="en-US" sz="1600" dirty="0"/>
              <a:t>The engine must detect when the Player's Box overlaps with an Enemy's Box (Axis-Aligned Bounding Box).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800" b="1" dirty="0"/>
              <a:t>Audio System: 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Channels: </a:t>
            </a:r>
            <a:r>
              <a:rPr lang="en-US" sz="1600" dirty="0"/>
              <a:t>Needs at least 2 channels one for Looping Music (Engine hum/Background) and one for Sound Effects (Crash/Coin pickup).</a:t>
            </a:r>
          </a:p>
        </p:txBody>
      </p:sp>
    </p:spTree>
    <p:extLst>
      <p:ext uri="{BB962C8B-B14F-4D97-AF65-F5344CB8AC3E}">
        <p14:creationId xmlns:p14="http://schemas.microsoft.com/office/powerpoint/2010/main" val="3984483109"/>
      </p:ext>
    </p:extLst>
  </p:cSld>
  <p:clrMapOvr>
    <a:masterClrMapping/>
  </p:clrMapOvr>
  <p:transition spd="slow" advTm="149826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CED0A79-854F-81AC-21AC-CB8CE31AE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989D235A-89EB-FFCA-DF34-73ABF80B2AD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636" y="290448"/>
            <a:ext cx="79981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>
                <a:latin typeface="+mj-lt"/>
              </a:rPr>
              <a:t>Systems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34C92CE-5ADE-5295-0CD2-9468C8D4A6E4}"/>
              </a:ext>
            </a:extLst>
          </p:cNvPr>
          <p:cNvSpPr txBox="1"/>
          <p:nvPr/>
        </p:nvSpPr>
        <p:spPr>
          <a:xfrm>
            <a:off x="425432" y="994755"/>
            <a:ext cx="7782903" cy="5627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The Road :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Endless Scroll: </a:t>
            </a:r>
            <a:r>
              <a:rPr lang="en-US" sz="1800" dirty="0"/>
              <a:t>The road loops forever.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4-Lane Grid: </a:t>
            </a:r>
            <a:r>
              <a:rPr lang="en-US" sz="1800" dirty="0"/>
              <a:t>Objects can only spawn in lanes 1, 2, 3, or 4.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2000" b="1" dirty="0"/>
              <a:t>Global Progression: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Speed Multiplier:</a:t>
            </a:r>
            <a:r>
              <a:rPr lang="en-US" sz="1800" dirty="0"/>
              <a:t> Every 10 seconds, the "Game Speed" variable increases by a rate.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2000" b="1" dirty="0"/>
              <a:t>Traffic: </a:t>
            </a:r>
            <a:r>
              <a:rPr lang="en-US" sz="1800" dirty="0"/>
              <a:t>spawning of cars.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2000" b="1" dirty="0"/>
              <a:t>Environment(Objects):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Walls: Spawn at fixed intervals.</a:t>
            </a:r>
          </a:p>
          <a:p>
            <a:pPr>
              <a:lnSpc>
                <a:spcPct val="150000"/>
              </a:lnSpc>
            </a:pPr>
            <a:r>
              <a:rPr lang="en-US" sz="1800" dirty="0"/>
              <a:t>Patterns: Coins spawn in lines randomly.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1059300740"/>
      </p:ext>
    </p:extLst>
  </p:cSld>
  <p:clrMapOvr>
    <a:masterClrMapping/>
  </p:clrMapOvr>
  <p:transition spd="slow" advTm="149826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322F9E70-18D9-0704-F848-8C93B10D93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25B14291-0229-761C-C6D7-9337D44CF11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636" y="290448"/>
            <a:ext cx="79981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>
                <a:latin typeface="+mj-lt"/>
              </a:rPr>
              <a:t>Game Mechanics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CF1BB1-A6F4-4052-E075-F564FDD732F3}"/>
              </a:ext>
            </a:extLst>
          </p:cNvPr>
          <p:cNvSpPr txBox="1"/>
          <p:nvPr/>
        </p:nvSpPr>
        <p:spPr>
          <a:xfrm>
            <a:off x="425432" y="994755"/>
            <a:ext cx="7782903" cy="47038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/>
              <a:t>Entities (Game Objects):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Avatar: </a:t>
            </a:r>
            <a:r>
              <a:rPr lang="en-US" sz="1800" dirty="0"/>
              <a:t>The Blue Car (Player controlled).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Simple Enemy: </a:t>
            </a:r>
            <a:r>
              <a:rPr lang="en-US" sz="1800" dirty="0"/>
              <a:t>Yellow Car.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Complex Enemy: </a:t>
            </a:r>
            <a:r>
              <a:rPr lang="en-US" sz="1800" dirty="0"/>
              <a:t>Red Car. 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Static Hazard: </a:t>
            </a:r>
            <a:r>
              <a:rPr lang="en-US" sz="1800" dirty="0"/>
              <a:t>Concrete Wall.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Triggers: </a:t>
            </a:r>
            <a:r>
              <a:rPr lang="en-US" sz="1800" dirty="0"/>
              <a:t>Coins (Add Score) and Stars (Progress Token).</a:t>
            </a:r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endParaRPr lang="en-US" sz="1800" dirty="0"/>
          </a:p>
          <a:p>
            <a:pPr>
              <a:lnSpc>
                <a:spcPct val="150000"/>
              </a:lnSpc>
            </a:pPr>
            <a:r>
              <a:rPr lang="en-US" sz="2000" b="1" dirty="0"/>
              <a:t>Resource Mechanics: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Health System: </a:t>
            </a:r>
            <a:r>
              <a:rPr lang="en-US" sz="1800" dirty="0"/>
              <a:t>Integer value (Max: 3). Decrements on collision.</a:t>
            </a:r>
          </a:p>
          <a:p>
            <a:pPr>
              <a:lnSpc>
                <a:spcPct val="150000"/>
              </a:lnSpc>
            </a:pPr>
            <a:r>
              <a:rPr lang="en-US" sz="1800" b="1" dirty="0"/>
              <a:t>Score System: </a:t>
            </a:r>
            <a:r>
              <a:rPr lang="en-US" sz="1800" dirty="0"/>
              <a:t>Integer value. Increments on Coin collection.</a:t>
            </a:r>
          </a:p>
        </p:txBody>
      </p:sp>
    </p:spTree>
    <p:extLst>
      <p:ext uri="{BB962C8B-B14F-4D97-AF65-F5344CB8AC3E}">
        <p14:creationId xmlns:p14="http://schemas.microsoft.com/office/powerpoint/2010/main" val="3647554345"/>
      </p:ext>
    </p:extLst>
  </p:cSld>
  <p:clrMapOvr>
    <a:masterClrMapping/>
  </p:clrMapOvr>
  <p:transition spd="slow" advTm="149826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93">
          <a:extLst>
            <a:ext uri="{FF2B5EF4-FFF2-40B4-BE49-F238E27FC236}">
              <a16:creationId xmlns:a16="http://schemas.microsoft.com/office/drawing/2014/main" id="{9A74F073-994A-8D25-F834-F16041596E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p61">
            <a:extLst>
              <a:ext uri="{FF2B5EF4-FFF2-40B4-BE49-F238E27FC236}">
                <a16:creationId xmlns:a16="http://schemas.microsoft.com/office/drawing/2014/main" id="{1AE81854-8FAD-2180-7BE3-FC292385F6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636" y="290448"/>
            <a:ext cx="79981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>
                <a:latin typeface="+mj-lt"/>
              </a:rPr>
              <a:t>User Interface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673DEA7-0EEE-3C7B-296C-5374408A57C9}"/>
              </a:ext>
            </a:extLst>
          </p:cNvPr>
          <p:cNvSpPr txBox="1"/>
          <p:nvPr/>
        </p:nvSpPr>
        <p:spPr>
          <a:xfrm>
            <a:off x="425432" y="845900"/>
            <a:ext cx="8718568" cy="59559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/>
              <a:t>Input Controls (Player → System):</a:t>
            </a:r>
          </a:p>
          <a:p>
            <a:pPr>
              <a:lnSpc>
                <a:spcPct val="150000"/>
              </a:lnSpc>
            </a:pPr>
            <a:r>
              <a:rPr lang="en-US" sz="1600" dirty="0"/>
              <a:t>Digital Tapping: The game uses simple "Tap Left" or "Tap Right" 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Visual Feedback (System → Player):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Heads Up Display (HUD):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Hearts: </a:t>
            </a:r>
            <a:r>
              <a:rPr lang="en-US" sz="1600" dirty="0"/>
              <a:t>Displayed at the top-left (Static).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Stars: </a:t>
            </a:r>
            <a:r>
              <a:rPr lang="en-US" sz="1600" dirty="0"/>
              <a:t>Displayed at the top-right (Updates on collection).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Audio Feedback (System → Player):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Positive Feedback: </a:t>
            </a:r>
            <a:r>
              <a:rPr lang="en-US" sz="1600" dirty="0"/>
              <a:t>when collecting a Coin (Rewards the player).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Negative Feedback: </a:t>
            </a:r>
            <a:r>
              <a:rPr lang="en-US" sz="1600" dirty="0"/>
              <a:t>Loud hitting sound when hitting a wall or a car. </a:t>
            </a:r>
          </a:p>
          <a:p>
            <a:pPr>
              <a:lnSpc>
                <a:spcPct val="150000"/>
              </a:lnSpc>
            </a:pPr>
            <a:endParaRPr lang="en-US" sz="1600" dirty="0"/>
          </a:p>
          <a:p>
            <a:pPr>
              <a:lnSpc>
                <a:spcPct val="150000"/>
              </a:lnSpc>
            </a:pPr>
            <a:r>
              <a:rPr lang="en-US" sz="1600" b="1" dirty="0"/>
              <a:t>Interface Modes (State Changes):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Standard Mode: </a:t>
            </a:r>
            <a:r>
              <a:rPr lang="en-US" sz="1600" dirty="0"/>
              <a:t>The screen is bright and clear.</a:t>
            </a:r>
          </a:p>
          <a:p>
            <a:pPr>
              <a:lnSpc>
                <a:spcPct val="150000"/>
              </a:lnSpc>
            </a:pPr>
            <a:r>
              <a:rPr lang="en-US" sz="1600" b="1" dirty="0"/>
              <a:t>Critical Mode: </a:t>
            </a:r>
            <a:r>
              <a:rPr lang="en-US" sz="1600" dirty="0"/>
              <a:t>When Health = 1, the screen dims. This interface change urgently warns the player that the next hit is fatal.</a:t>
            </a:r>
          </a:p>
        </p:txBody>
      </p:sp>
    </p:spTree>
    <p:extLst>
      <p:ext uri="{BB962C8B-B14F-4D97-AF65-F5344CB8AC3E}">
        <p14:creationId xmlns:p14="http://schemas.microsoft.com/office/powerpoint/2010/main" val="2170551206"/>
      </p:ext>
    </p:extLst>
  </p:cSld>
  <p:clrMapOvr>
    <a:masterClrMapping/>
  </p:clrMapOvr>
  <p:transition spd="slow" advTm="149826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494;p61">
            <a:extLst>
              <a:ext uri="{FF2B5EF4-FFF2-40B4-BE49-F238E27FC236}">
                <a16:creationId xmlns:a16="http://schemas.microsoft.com/office/drawing/2014/main" id="{F0F38BED-6F96-B66C-2EFA-F58BDE549BC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61636" y="290448"/>
            <a:ext cx="7998156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it-IT" dirty="0">
                <a:latin typeface="+mj-lt"/>
              </a:rPr>
              <a:t>Content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BC202A-9044-4D8E-3EB0-72093FE29C6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534" t="11326" r="28954" b="10321"/>
          <a:stretch>
            <a:fillRect/>
          </a:stretch>
        </p:blipFill>
        <p:spPr>
          <a:xfrm>
            <a:off x="1605517" y="1095153"/>
            <a:ext cx="6358270" cy="5649993"/>
          </a:xfrm>
          <a:prstGeom prst="rect">
            <a:avLst/>
          </a:prstGeom>
        </p:spPr>
      </p:pic>
      <p:sp>
        <p:nvSpPr>
          <p:cNvPr id="11" name="Arrow: Right 10">
            <a:extLst>
              <a:ext uri="{FF2B5EF4-FFF2-40B4-BE49-F238E27FC236}">
                <a16:creationId xmlns:a16="http://schemas.microsoft.com/office/drawing/2014/main" id="{06692E63-D8AF-C39E-93A2-7E6A242E142A}"/>
              </a:ext>
            </a:extLst>
          </p:cNvPr>
          <p:cNvSpPr/>
          <p:nvPr/>
        </p:nvSpPr>
        <p:spPr>
          <a:xfrm>
            <a:off x="1052622" y="1307805"/>
            <a:ext cx="1775637" cy="340242"/>
          </a:xfrm>
          <a:prstGeom prst="rightArrow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ransition spd="slow" advTm="55343">
    <p:wip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43A7E3DF-9C41-435A-9219-E732E030D5C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7200" y="2133600"/>
            <a:ext cx="8229600" cy="31292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algn="ctr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4572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9144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13716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1828800" algn="ctr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7200" b="0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Candara" panose="020E0502030303020204" pitchFamily="34" charset="0"/>
                <a:ea typeface="Verdana" panose="020B0604030504040204" pitchFamily="34" charset="0"/>
                <a:cs typeface="Arial"/>
              </a:rPr>
              <a:t>Thank You</a:t>
            </a:r>
            <a:br>
              <a:rPr kumimoji="0" lang="en-US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</a:br>
            <a:r>
              <a:rPr kumimoji="0" lang="en-US" altLang="en-US" sz="5400" b="0" i="0" u="none" strike="noStrike" kern="1200" cap="none" spc="0" normalizeH="0" baseline="0" noProof="0" dirty="0">
                <a:ln>
                  <a:noFill/>
                </a:ln>
                <a:solidFill>
                  <a:srgbClr val="CC9900"/>
                </a:solidFill>
                <a:effectLst/>
                <a:uLnTx/>
                <a:uFillTx/>
                <a:latin typeface="Arial"/>
                <a:ea typeface="+mj-ea"/>
                <a:cs typeface="Arial"/>
              </a:rPr>
              <a:t> </a:t>
            </a:r>
            <a:endParaRPr kumimoji="0" lang="en-US" altLang="en-US" sz="4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+mj-ea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12628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 advTm="13166">
        <p:split orient="vert"/>
      </p:transition>
    </mc:Choice>
    <mc:Fallback xmlns="">
      <p:transition spd="slow" advTm="13166">
        <p:split orient="vert"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IMING" val="|145.2"/>
</p:tagLst>
</file>

<file path=ppt/theme/theme1.xml><?xml version="1.0" encoding="utf-8"?>
<a:theme xmlns:a="http://schemas.openxmlformats.org/drawingml/2006/main" name="Minimalist Business Slides XL by Slidesgo">
  <a:themeElements>
    <a:clrScheme name="Simple Light">
      <a:dk1>
        <a:srgbClr val="000000"/>
      </a:dk1>
      <a:lt1>
        <a:srgbClr val="F5F2EE"/>
      </a:lt1>
      <a:dk2>
        <a:srgbClr val="000000"/>
      </a:dk2>
      <a:lt2>
        <a:srgbClr val="EEEEEE"/>
      </a:lt2>
      <a:accent1>
        <a:srgbClr val="3F3533"/>
      </a:accent1>
      <a:accent2>
        <a:srgbClr val="3F3533"/>
      </a:accent2>
      <a:accent3>
        <a:srgbClr val="3F3533"/>
      </a:accent3>
      <a:accent4>
        <a:srgbClr val="3F3533"/>
      </a:accent4>
      <a:accent5>
        <a:srgbClr val="3F3533"/>
      </a:accent5>
      <a:accent6>
        <a:srgbClr val="3F353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1259</TotalTime>
  <Words>708</Words>
  <Application>Microsoft Office PowerPoint</Application>
  <PresentationFormat>Custom</PresentationFormat>
  <Paragraphs>102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7" baseType="lpstr">
      <vt:lpstr>Crimson Text</vt:lpstr>
      <vt:lpstr>Arial</vt:lpstr>
      <vt:lpstr>Vidaloka</vt:lpstr>
      <vt:lpstr>Montserrat</vt:lpstr>
      <vt:lpstr>Candara</vt:lpstr>
      <vt:lpstr>Minimalist Business Slides XL by Slidesgo</vt:lpstr>
      <vt:lpstr>PowerPoint Presentation</vt:lpstr>
      <vt:lpstr>The Vision</vt:lpstr>
      <vt:lpstr>Player Mode Sketch</vt:lpstr>
      <vt:lpstr>3.Rules</vt:lpstr>
      <vt:lpstr>4. Challenges</vt:lpstr>
      <vt:lpstr>Game Engine</vt:lpstr>
      <vt:lpstr>Systems</vt:lpstr>
      <vt:lpstr>Game Mechanics</vt:lpstr>
      <vt:lpstr>User Interface</vt:lpstr>
      <vt:lpstr>Content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ORIENT</dc:creator>
  <cp:lastModifiedBy>Kawa 0011</cp:lastModifiedBy>
  <cp:revision>45</cp:revision>
  <dcterms:modified xsi:type="dcterms:W3CDTF">2026-02-09T16:19:23Z</dcterms:modified>
</cp:coreProperties>
</file>